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8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1216152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PRACTICUM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Medallion (Bronze → Silver → Gold) con Python, SQLite y Power BI — integración de fuentes BCE, INEC, Supercias y MINEDUC, ampliada con datos oficiales via RPA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3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Matute  •   UTPL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problema resuelve este proyecto?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no cuenta con un solo lugar donde ver, de forma conjunta y confiable, la economía (PIB, VAB), el tejido empresarial (Supercias), el empleo (INEC) y la educación (MINEDUC).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83794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6492240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783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4 fuentes oficiales distintas, con formatos y calidades muy dispares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279806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492240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Transformarlas en un modelo relacional limpio, con llaves foráneas verificadas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92240" y="375818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9224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 el resultado en un dashboard de Power BI para analistas y tomadores de decisión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reproducible en código (no manual) que hoy integra ~1.95 millones de filas provenientes de datos oficiales, con 0 violaciones de integridad referencial.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 — 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Medallion: Bronze → Silver → Gold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3246120" cy="128016"/>
          </a:xfrm>
          <a:prstGeom prst="rect">
            <a:avLst/>
          </a:prstGeom>
          <a:solidFill>
            <a:srgbClr val="8B5E22"/>
          </a:solidFill>
          <a:ln w="12700">
            <a:solidFill>
              <a:srgbClr val="8B5E2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crudos tal como llegan: Excel/CSV de BCE, INEC, Supercias, MINEDUC + dumps Oracle de RPA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3484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46120" cy="128016"/>
          </a:xfrm>
          <a:prstGeom prst="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4348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normalización por fuente (Python/Pandas). Modelo relacional con llaves foráneas (SQLite)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8096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8183880" y="2103120"/>
            <a:ext cx="3246120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818388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analíticas listas para consumo: tendencias, rankings, cruces por provincia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2 Y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fuentes, cuatro problemas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18520" cy="45720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8288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 técnico resuelto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1852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VAB, petróleo, riesgo país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23774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limpias en formato largo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154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ENEMDU y Censo 2022 (empleo, ocupación)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31546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pd.melt() para pasar de columnas a filas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1852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Supercias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931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+ ranking empresarial (326 MB)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393192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con directorio para RUC/provincia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MINEDUC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47091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histórico 2009-2024 (313 MB)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470916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con openpyxl streaming (no cabía en memoria)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captura de uno de los scripts de limpieza (bce.py / inec.py / supercias.py / mineduc.py)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relacional con integridad verificada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dimensiones: </a:t>
            </a: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dim_geografia, dim_tiempo, dim_empresas, dim_ciiu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tablas de hechos: </a:t>
            </a: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VAB, empleo, ocupación censal, ranking empresarial, oferta académica, indicadores diarios, IEE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violaciones de FK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 foreign_key_check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SERIAL→AUTOINCR.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SQLite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DDL original en Postgres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836676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/ 9.5%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6676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id_geografia nulo (documentado)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nombres de provincia/cantón sin calzar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diagrama entidad-relación (modelo_entidad_relacion.png)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dashboard: dos preguntas de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59436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¿Cómo ha evolucionado la economía?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PIB real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de variación con clasificación de ciclo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PIB per cápita y variación interanual (DAX)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IEE del último año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59436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¿Dónde se concentra la actividad?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VAB por provincia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ramas de actividad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 desempleo más reciente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Conexión: Power BI ↔ pipeline_utpl.db vía ODBC (driver SQLite + DSN)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captura de las páginas P1 y P2 del dashboard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nueva fuente entra al pipeline: RPA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compañero automatizó la extracción oficial con un robot (RPA) que entrega dumps de Oracle Data Pump: dos archivos .sql con una sola tabla, TAB_CONSOLIDADO, donde cada fila es un indicador distinto guardado como JSON.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.sql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 KB + 2.4 GB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distintos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empleo, Supercias, MINEDUC...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36676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~1.95M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6676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totales cargadas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277,529 + 1,672,590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reto propio: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JSON viene doblemente serializado (una cadena de texto que contiene otro JSON escapado). No está comprimido — solo necesita json.loads() dos veces para leerse.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obstáculos técnicos, seis soluciones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rechazaba las cargas (ORA-32795 / ORA-00955)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Tablespace inexistente + columna IDENTITY mal configurada en el XE local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bachilleres: solo contaba mujeres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4048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tomaba una sola columna cuando existían mujeres + hombres por separado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 perdía el detalle urbano/rural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patrón de bug: se descartaba todo excepto el total nacional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nominal faltante en 35 de 60 años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8221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pipeline nunca consultaba el indicador PIB_NOMINAL_PER_CAPITA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 y CIIU vacíos rompiendo llaves únicas/foráneas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2395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excluyeron o convirtieron a NULL, documentando el % exacto afectado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Mojibake visual en la consola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52395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Confirmado: los datos en SQLite están bien; era solo la codepage de la terminal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se integra igual: 4 estrategias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45720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dim_empresas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0" y="24231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219,753 filas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38360" y="2624328"/>
            <a:ext cx="164592" cy="164592"/>
          </a:xfrm>
          <a:prstGeom prst="ellipse">
            <a:avLst/>
          </a:prstGeom>
          <a:solidFill>
            <a:srgbClr val="0BA678"/>
          </a:solidFill>
          <a:ln w="12700">
            <a:solidFill>
              <a:srgbClr val="0BA67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fact_ranking_empresarial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990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29900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1,345,488 filas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38360" y="3191256"/>
            <a:ext cx="164592" cy="164592"/>
          </a:xfrm>
          <a:prstGeom prst="ellipse">
            <a:avLst/>
          </a:prstGeom>
          <a:solidFill>
            <a:srgbClr val="0BA678"/>
          </a:solidFill>
          <a:ln w="12700">
            <a:solidFill>
              <a:srgbClr val="0BA67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4864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fact_oferta_academica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35570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(append)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35570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+16,275 (período 2025-2026)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38360" y="3758184"/>
            <a:ext cx="164592" cy="164592"/>
          </a:xfrm>
          <a:prstGeom prst="ellipse">
            <a:avLst/>
          </a:prstGeom>
          <a:solidFill>
            <a:srgbClr val="1F7AE0"/>
          </a:solidFill>
          <a:ln w="12700">
            <a:solidFill>
              <a:srgbClr val="1F7AE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48640" y="41239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fact_macro_anual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41239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(PIB nominal)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41239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60/60 sin nulos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38360" y="4325112"/>
            <a:ext cx="164592" cy="164592"/>
          </a:xfrm>
          <a:prstGeom prst="ellipse">
            <a:avLst/>
          </a:prstGeom>
          <a:solidFill>
            <a:srgbClr val="1F7AE0"/>
          </a:solidFill>
          <a:ln w="12700">
            <a:solidFill>
              <a:srgbClr val="1F7AE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48640" y="4690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fact_empleo_poblacion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46908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nueva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49440" y="46908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1,872 filas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738360" y="4892040"/>
            <a:ext cx="164592" cy="164592"/>
          </a:xfrm>
          <a:prstGeom prst="ellipse">
            <a:avLst/>
          </a:prstGeom>
          <a:solidFill>
            <a:srgbClr val="8B5E22"/>
          </a:solidFill>
          <a:ln w="12700">
            <a:solidFill>
              <a:srgbClr val="8B5E2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48640" y="5257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fact_vab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5257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52578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anio nulo desde el origen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738360" y="545896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548640" y="60076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mejora directa sin pérdida  •  Azul = requirió análisis de compatibilidad  •  Café = estructura nueva  •  Rojo = bloqueado (dato de origen)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ajuste: formalizar la FK de dim_ciiu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70632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el desajuste real tras integrar RPA: 0.000% en las 4 columnas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3392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3649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no permite ALTER TABLE ADD FOREIGN KEY → reconstruir las 3 tablas conservando los datos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4864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9867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y corregir 524 violaciones: códigos CIIU vacíos convertidos a NULL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48640" y="4636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6085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Confirmar: 0 violaciones de integridad referencial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82296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final: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 vistas Gold verificadas de punta a punta después de cada cambio, sin romper ningún cruce existente.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6-7 —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dashboard, completo y con datos actualizados de RPA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preguntas de negocio ya tienen su página, con navegación entre ellas, filtros interactivos y una paleta de colores institucional consistente en todo el tablero.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páginas completas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443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economía, P2 concentración empresarial/empleo, P3 bachilleres vs. empresas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56032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446520" y="263347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por botones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9443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página enlaza a las otras dos con acción de página configurada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interactivos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044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Segmentaciones desplegables y de rango (año, provincia, sector) en cada página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52044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446520" y="3593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 significado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9044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condicional verde/rojo según signo del valor, no solo por categoría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731520" y="45537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revisado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8646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fantasma detectadas y eliminadas; relación clave ruc reactivada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480560"/>
            <a:ext cx="5349240" cy="822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6446520" y="45537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visual propio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8646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institucional (azul marino + dorado) aplicada de forma consistente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P1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¿Cómo ha evolucionado la economía ecuatoriana?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Inserta aquí tu captura de esta página del dashboard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977640" cy="4480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818120" y="1783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esta página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año desplegable + atajos (5/10 años, histórico completo)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PIB real del último año, variación interanual, clasificación del ciclo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evolución del PIB real (1965-2025)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de variación con color por signo: verde si crece, rojo si cae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Índice de Expectativas Empresariales (IEE)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2A4E02-703E-1FA5-F055-F59535B5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87" y="1325879"/>
            <a:ext cx="6871133" cy="48006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P2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P2: ¿Dónde se concentra la actividad y el empleo?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Inserta aquí tu captura de esta página del dashboard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977640" cy="4480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818120" y="1783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esta página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de provincia y sector CIIU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 desempleo (tasa nacional más reciente)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totales por provincia (Supercias, actualizado vía RPA)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ramas de actividad por personas ocupadas (Censo 2022)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revisado: relación ruc entre dim_empresas y fact_ranking_empresarial verificada activa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CD0068-5D33-99CA-F3FC-EFE3EB79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12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P3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P3: ¿Dónde están los bachilleres y cuántas empresas hay?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Inserta aquí tu captura de esta página del dashboard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977640" cy="4480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818120" y="1783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esta página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de provincia y período lectivo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Bachilleres de 3er año vs. empresas activas, por provincia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bachilleres por empresa, top provincias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el período 2025-2026 agregado vía integración RPA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57D07-AA3E-F474-47D8-83FCCDBA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6079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6152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sobre el pipeline, el modelo de datos, la integración con RPA, o el dashboard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1403</Words>
  <Application>Microsoft Office PowerPoint</Application>
  <PresentationFormat>Widescreen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Pablo Matute</cp:lastModifiedBy>
  <cp:revision>2</cp:revision>
  <dcterms:created xsi:type="dcterms:W3CDTF">2026-07-23T04:49:02Z</dcterms:created>
  <dcterms:modified xsi:type="dcterms:W3CDTF">2026-07-23T09:56:35Z</dcterms:modified>
</cp:coreProperties>
</file>