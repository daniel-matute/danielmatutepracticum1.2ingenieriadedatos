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PIB real (millones USD)</c:v>
                </c:pt>
              </c:strCache>
            </c:strRef>
          </c:tx>
          <c:spPr>
            <a:ln w="31750" cap="flat">
              <a:solidFill>
                <a:srgbClr val="0B3D57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1965</c:v>
                </c:pt>
                <c:pt idx="1">
                  <c:v>1968</c:v>
                </c:pt>
                <c:pt idx="2">
                  <c:v>1971</c:v>
                </c:pt>
                <c:pt idx="3">
                  <c:v>1974</c:v>
                </c:pt>
                <c:pt idx="4">
                  <c:v>1977</c:v>
                </c:pt>
                <c:pt idx="5">
                  <c:v>1980</c:v>
                </c:pt>
                <c:pt idx="6">
                  <c:v>1983</c:v>
                </c:pt>
                <c:pt idx="7">
                  <c:v>1986</c:v>
                </c:pt>
                <c:pt idx="8">
                  <c:v>1989</c:v>
                </c:pt>
                <c:pt idx="9">
                  <c:v>1992</c:v>
                </c:pt>
                <c:pt idx="10">
                  <c:v>1995</c:v>
                </c:pt>
                <c:pt idx="11">
                  <c:v>1998</c:v>
                </c:pt>
                <c:pt idx="12">
                  <c:v>2001</c:v>
                </c:pt>
                <c:pt idx="13">
                  <c:v>2004</c:v>
                </c:pt>
                <c:pt idx="14">
                  <c:v>2007</c:v>
                </c:pt>
                <c:pt idx="15">
                  <c:v>2010</c:v>
                </c:pt>
                <c:pt idx="16">
                  <c:v>2013</c:v>
                </c:pt>
                <c:pt idx="17">
                  <c:v>2016</c:v>
                </c:pt>
                <c:pt idx="18">
                  <c:v>2019</c:v>
                </c:pt>
                <c:pt idx="19">
                  <c:v>2022</c:v>
                </c:pt>
                <c:pt idx="20">
                  <c:v>2024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11913.5</c:v>
                </c:pt>
                <c:pt idx="1">
                  <c:v>12927.4</c:v>
                </c:pt>
                <c:pt idx="2">
                  <c:v>15170.1</c:v>
                </c:pt>
                <c:pt idx="3">
                  <c:v>20056.5</c:v>
                </c:pt>
                <c:pt idx="4">
                  <c:v>24454.9</c:v>
                </c:pt>
                <c:pt idx="5">
                  <c:v>27604.7</c:v>
                </c:pt>
                <c:pt idx="6">
                  <c:v>31022.1</c:v>
                </c:pt>
                <c:pt idx="7">
                  <c:v>34617.4</c:v>
                </c:pt>
                <c:pt idx="8">
                  <c:v>38074.800000000003</c:v>
                </c:pt>
                <c:pt idx="9">
                  <c:v>43011.3</c:v>
                </c:pt>
                <c:pt idx="10">
                  <c:v>46707</c:v>
                </c:pt>
                <c:pt idx="11">
                  <c:v>51941.1</c:v>
                </c:pt>
                <c:pt idx="12">
                  <c:v>54351.9</c:v>
                </c:pt>
                <c:pt idx="13">
                  <c:v>62684.5</c:v>
                </c:pt>
                <c:pt idx="14">
                  <c:v>70248.100000000006</c:v>
                </c:pt>
                <c:pt idx="15">
                  <c:v>78725.7</c:v>
                </c:pt>
                <c:pt idx="16">
                  <c:v>96856.6</c:v>
                </c:pt>
                <c:pt idx="17">
                  <c:v>100375.4</c:v>
                </c:pt>
                <c:pt idx="18">
                  <c:v>107656.7</c:v>
                </c:pt>
                <c:pt idx="19">
                  <c:v>113183.2</c:v>
                </c:pt>
                <c:pt idx="20">
                  <c:v>113017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205-4B2C-9828-2BAC0870DB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5A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A6B72"/>
                    </a:solidFill>
                    <a:latin typeface="Arial"/>
                  </a:defRPr>
                </a:pPr>
                <a:r>
                  <a:rPr lang="es-EC" sz="900" b="0" i="0" u="none" strike="noStrike">
                    <a:solidFill>
                      <a:srgbClr val="5A6B72"/>
                    </a:solidFill>
                    <a:latin typeface="Arial"/>
                  </a:rPr>
                  <a:t>Millones USD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0894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1BCA4-2868-DFD7-E9A0-9B5919FB1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6CF94E-6650-D488-093F-DE06900F7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BB1257-C333-8314-F54F-C420E2252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A37BC-8AEF-B253-1F9D-74C71EEA95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9347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3D57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DATOS · ARQUITECTURA MEDALLION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dato crudo al tablero de control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Practicum 1.2 — Semanas 3, 4 y 5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de fuentes · Modelo relacional y vistas Gold · Dashboard en Power BI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· Ingeniería en Computación · UTPL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pipeline en tres capas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fuente del macroentorno ecuatoriano pasa por el mismo camino antes de llegar a un gráfico.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4206240"/>
          </a:xfrm>
          <a:prstGeom prst="roundRect">
            <a:avLst>
              <a:gd name="adj" fmla="val 3333"/>
            </a:avLst>
          </a:prstGeom>
          <a:solidFill>
            <a:srgbClr val="EAF2F5"/>
          </a:solidFill>
          <a:ln/>
          <a:effectLst>
            <a:outerShdw blurRad="101600" dist="381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1737360" y="2194560"/>
            <a:ext cx="914400" cy="914400"/>
          </a:xfrm>
          <a:prstGeom prst="ellipse">
            <a:avLst/>
          </a:prstGeom>
          <a:solidFill>
            <a:srgbClr val="8C6D3F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6" name="Image 0" descr="icons/ex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104" y="243230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91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8680" y="3840480"/>
            <a:ext cx="2651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fuente tal como los entregan BCE, INEC, Supercías y MINEDUC: Excel, CSV, algunos de más de 300 MB.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51960" y="1828800"/>
            <a:ext cx="3291840" cy="4206240"/>
          </a:xfrm>
          <a:prstGeom prst="roundRect">
            <a:avLst>
              <a:gd name="adj" fmla="val 3333"/>
            </a:avLst>
          </a:prstGeom>
          <a:solidFill>
            <a:srgbClr val="EAF2F5"/>
          </a:solidFill>
          <a:ln/>
          <a:effectLst>
            <a:outerShdw blurRad="101600" dist="381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0" name="Shape 7"/>
          <p:cNvSpPr/>
          <p:nvPr/>
        </p:nvSpPr>
        <p:spPr>
          <a:xfrm>
            <a:off x="5440680" y="21945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11" name="Image 1" descr="icons/br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8424" y="243230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34840" y="3291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572000" y="3840480"/>
            <a:ext cx="2651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en Pandas limpian, normalizan y reshapean cada fuente (melt, dtype, streaming con openpyxl para los archivos pesados).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55280" y="1828800"/>
            <a:ext cx="3291840" cy="4206240"/>
          </a:xfrm>
          <a:prstGeom prst="roundRect">
            <a:avLst>
              <a:gd name="adj" fmla="val 3333"/>
            </a:avLst>
          </a:prstGeom>
          <a:solidFill>
            <a:srgbClr val="EAF2F5"/>
          </a:solidFill>
          <a:ln/>
          <a:effectLst>
            <a:outerShdw blurRad="101600" dist="381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5" name="Shape 11"/>
          <p:cNvSpPr/>
          <p:nvPr/>
        </p:nvSpPr>
        <p:spPr>
          <a:xfrm>
            <a:off x="9144000" y="2194560"/>
            <a:ext cx="914400" cy="914400"/>
          </a:xfrm>
          <a:prstGeom prst="ellipse">
            <a:avLst/>
          </a:prstGeom>
          <a:solidFill>
            <a:srgbClr val="0B3D57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16" name="Image 2" descr="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1744" y="243230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3291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8275320" y="3840480"/>
            <a:ext cx="2651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SQL sobre el modelo relacional final, listas para conectarse directo a Power BI.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3 — Limpiando cuatro fuentes muy distintas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4" name="Image 0" descr="icons/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1687068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4173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INEC · ENEMDU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343400" y="1417320"/>
            <a:ext cx="7223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indicadores laborales venían con las áreas (nacional/urbana/rural) como columnas. Usé pd.melt() para pasarlos a formato largo antes de cargarlos.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679192"/>
            <a:ext cx="685800" cy="685800"/>
          </a:xfrm>
          <a:prstGeom prst="ellipse">
            <a:avLst/>
          </a:prstGeom>
          <a:solidFill>
            <a:srgbClr val="0B3D57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8" name="Image 1" descr="icons/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2857500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587752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INEC · Censo 2022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343400" y="2587752"/>
            <a:ext cx="7223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hoja de ocupación traía 22 ramas de actividad, una por columna. Mismo truco de melt() para dejar una rama por fila.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3849624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12" name="Image 2" descr="icons/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4027932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758184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Supercías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343400" y="3758184"/>
            <a:ext cx="7223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ranking de empresas (326 MB) no traía RUC ni provincia, solo un número de expediente. Tocó cruzarlo con el directorio de compañías para completar los datos.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548640" y="5020056"/>
            <a:ext cx="685800" cy="685800"/>
          </a:xfrm>
          <a:prstGeom prst="ellipse">
            <a:avLst/>
          </a:prstGeom>
          <a:solidFill>
            <a:srgbClr val="0B3D57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16" name="Image 3" descr="icons/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5198364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08760" y="4928616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MINEDUC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4343400" y="4928616"/>
            <a:ext cx="7223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Pensé que era el AMIE de un solo año. Resultó ser un histórico 2009-2024 con 322 mil filas y 109 columnas — cambié de pandas a openpyxl en modo streaming para no reventar la memoria.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218368-3AB0-92EF-E107-FBA7C8B15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81B97B-E39E-3A05-CC76-BB2968B8391A}"/>
              </a:ext>
            </a:extLst>
          </p:cNvPr>
          <p:cNvSpPr/>
          <p:nvPr/>
        </p:nvSpPr>
        <p:spPr>
          <a:xfrm>
            <a:off x="73401" y="2788920"/>
            <a:ext cx="433997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</a:t>
            </a:r>
            <a:r>
              <a:rPr lang="en-US" sz="28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Entidad</a:t>
            </a: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Relacion</a:t>
            </a:r>
            <a:endParaRPr lang="en-US" sz="28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D729E3C-2714-F8D0-E6A2-31E12F509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4679" y="0"/>
            <a:ext cx="7436498" cy="671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64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4 — De tablas planas a un modelo relacional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tablas sueltas de la Semana 2 y 3 se archivaron como staging y se reconstruyeron con llaves foráneas reales.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dimensiones + 2 catálogos + 8 hechos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dim_geografia — provincia/cantón normalizados (mayúsculas, sin tildes)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dim_tiempo — series anuales de PIB y empleo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dim_empresas / dim_ciiu — directorio y catálogo de Supercías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tablas de hechos con FK: PIB, VAB, empleo, censo, ranking empresarial, oferta académica...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1691640"/>
            <a:ext cx="571500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6172200" y="18288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real de Ecuador, 1965–2024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172200" y="21214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reales de gold_pib_tendencia (fact_macro_anual)</a:t>
            </a:r>
            <a:endParaRPr lang="en-US" sz="10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6172200" y="2450592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cinco vistas Gold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una responde una pregunta concreta y alimenta directamente un visual en Power BI.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EAF2F5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822960" y="1746504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gold_pib_tendencia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1746504"/>
            <a:ext cx="7223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del PIB con clasificación de ciclo económico (Crecimiento fuerte / moderado / Estancamiento / Contracción).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822960" y="2587752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gold_empleo_tendencia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0" y="2587752"/>
            <a:ext cx="7223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desempleo nacional, urbana y rural por trimestre, desde 2007.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74136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EAF2F5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gold_petroleo_30dias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3429000"/>
            <a:ext cx="7223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móvil de 30 días del precio del petróleo WTI, con window function.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215384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822960" y="4270248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gold_empresas_provincia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4270248"/>
            <a:ext cx="7223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activas, ingresos y activos totales agrupados por provincia.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5663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EAF2F5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822960" y="5111496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gold_bachilleres_vs_empresas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5111496"/>
            <a:ext cx="7223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entre bachilleres de 3er año y empresas activas — la pregunta P3 del dashboard.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conectar Power BI, verifiqué la integridad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 foreign_key_check sobre la base migrada — cero violaciones.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0B3D57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violaciones de FK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toda la base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21031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0B3D57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3474720" y="242316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1.52M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566160" y="33832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en el ranking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empresarial migradas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0B3D57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6309360" y="242316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322,602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400800" y="33832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del histórico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MINEDUC (2009–2024)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21031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0B3D57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9144000" y="242316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235440" y="33832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 series anuales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PIB y población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A3349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822960" y="49377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18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5175504"/>
            <a:ext cx="438912" cy="43891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920240" y="4892040"/>
            <a:ext cx="9509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5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pendiente que documenté: cerca del 21% de las filas de Supercías y el 9.5% del Censo quedaron sin id_geografia (nombres de provincia/cantón que no calzaron al normalizar). No rompe nada — la vista gold_empresas_provincia simplemente las excluye — pero lo anoté como limitación conocida.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5 — Dashboard, página P1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“¿Cómo ha evolucionado la economía ecuatoriana en los últimos 20 años?”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2560" y="1417320"/>
            <a:ext cx="9860280" cy="5278120"/>
          </a:xfrm>
          <a:prstGeom prst="roundRect">
            <a:avLst>
              <a:gd name="adj" fmla="val 1481"/>
            </a:avLst>
          </a:prstGeom>
          <a:solidFill>
            <a:srgbClr val="EAF2F5"/>
          </a:solidFill>
          <a:ln/>
          <a:effectLst>
            <a:outerShdw blurRad="101600" dist="381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6" name="Text 3"/>
          <p:cNvSpPr/>
          <p:nvPr/>
        </p:nvSpPr>
        <p:spPr>
          <a:xfrm>
            <a:off x="10210800" y="132689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responde cada visual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22840" y="1115568"/>
            <a:ext cx="228092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PIB real anual, 1965–2024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de variación (%) coloreadas por ciclo económico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PIB per cápita más reciente y variación interanual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 Índice de Expectativas Empresariales del último año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31F81D-713D-87F5-D26C-A1F87C1F2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26" y="1468120"/>
            <a:ext cx="4511431" cy="21871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E17CD4-BDB5-511C-0E66-ADCEEDDA0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344" y="3732466"/>
            <a:ext cx="5029396" cy="26443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8CF3D23-6B03-7596-0F5C-90A0846C6C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0952" y="1509776"/>
            <a:ext cx="4374088" cy="21038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204A8F-0C4C-D286-94E6-E9C88079B5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074" y="4088968"/>
            <a:ext cx="3977844" cy="19313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5 — Dashboard, página P2 y lo que sigue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“¿En qué sectores y provincias se concentran la actividad económica y el empleo?”</a:t>
            </a:r>
            <a:endParaRPr lang="en-US" sz="1400" dirty="0"/>
          </a:p>
        </p:txBody>
      </p:sp>
      <p:pic>
        <p:nvPicPr>
          <p:cNvPr id="5" name="Image 0" descr="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1754734"/>
            <a:ext cx="285293" cy="285293"/>
          </a:xfrm>
          <a:prstGeom prst="rect">
            <a:avLst/>
          </a:prstGeom>
        </p:spPr>
      </p:pic>
      <p:pic>
        <p:nvPicPr>
          <p:cNvPr id="9" name="Image 1" descr="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2623414"/>
            <a:ext cx="285293" cy="285293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487741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EAF2F5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7" name="Shape 12"/>
          <p:cNvSpPr/>
          <p:nvPr/>
        </p:nvSpPr>
        <p:spPr>
          <a:xfrm>
            <a:off x="653131" y="5088637"/>
            <a:ext cx="822960" cy="822960"/>
          </a:xfrm>
          <a:prstGeom prst="ellipse">
            <a:avLst/>
          </a:prstGeom>
          <a:solidFill>
            <a:srgbClr val="0B3D57"/>
          </a:solidFill>
          <a:ln/>
        </p:spPr>
        <p:txBody>
          <a:bodyPr/>
          <a:lstStyle/>
          <a:p>
            <a:endParaRPr lang="es-EC" dirty="0"/>
          </a:p>
        </p:txBody>
      </p:sp>
      <p:pic>
        <p:nvPicPr>
          <p:cNvPr id="18" name="Image 3" descr="icons/handsh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100" y="5272431"/>
            <a:ext cx="395021" cy="39502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82519" y="5116629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sigue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724297" y="5471770"/>
            <a:ext cx="9418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el acuerdo de integración con el equipo de RPA (formato de archivo y carpeta de entrada)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pipeline.py para detectar y procesar archivos nuevos automáticamente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6: página P3 (bachilleres vs. empresas) y filtros por año/provincia/sector</a:t>
            </a:r>
            <a:endParaRPr lang="en-US" sz="12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F5D73B0-C030-2151-5585-DB6632C58C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131" y="1477867"/>
            <a:ext cx="10249542" cy="32340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779</Words>
  <Application>Microsoft Office PowerPoint</Application>
  <PresentationFormat>Widescreen</PresentationFormat>
  <Paragraphs>82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Pablo Matute</cp:lastModifiedBy>
  <cp:revision>4</cp:revision>
  <dcterms:created xsi:type="dcterms:W3CDTF">2026-07-09T20:15:26Z</dcterms:created>
  <dcterms:modified xsi:type="dcterms:W3CDTF">2026-07-09T21:40:38Z</dcterms:modified>
</cp:coreProperties>
</file>