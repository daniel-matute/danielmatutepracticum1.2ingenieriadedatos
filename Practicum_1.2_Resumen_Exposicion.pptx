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17720"/>
            <a:ext cx="121615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PRACTICUM 1.2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Datos del Macroentorno Ecuatoriano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Medallion (Bronze → Silver → Gold) con Python, SQLite y Power BI — integración de fuentes BCE, INEC, Supercias y MINEDUC, ampliada con datos oficiales via RPA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3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 •  Ingeniería en Computación — UTPL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problema resuelve este proyecto?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Ecuador no cuenta con un solo lugar donde ver, de forma conjunta y confiable, la economía (PIB, VAB), el tejido empresarial (Supercias), el empleo (INEC) y la educación (MINEDUC).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837944"/>
            <a:ext cx="310896" cy="310896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92240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0" y="1783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4 fuentes oficiales distintas, con formatos y calidades muy dispares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92240" y="2798064"/>
            <a:ext cx="310896" cy="310896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27432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Transformarlas en un modelo relacional limpio, con llaves foráneas verificadas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92240" y="3758184"/>
            <a:ext cx="310896" cy="310896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49440" y="3703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Exponer el resultado en un dashboard de Power BI para analistas y tomadores de decisión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6424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532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final: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pipeline reproducible en código (no manual) que hoy integra ~1.95 millones de filas provenientes de datos oficiales, con 0 violaciones de integridad referencial.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1 — ARQUITECTURA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 Medallion: Bronze → Silver → Gold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103120"/>
            <a:ext cx="3246120" cy="128016"/>
          </a:xfrm>
          <a:prstGeom prst="rect">
            <a:avLst/>
          </a:prstGeom>
          <a:solidFill>
            <a:srgbClr val="8B5E22"/>
          </a:solidFill>
          <a:ln w="12700">
            <a:solidFill>
              <a:srgbClr val="8B5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1752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crudos tal como llegan: Excel/CSV de BCE, INEC, Supercias, MINEDUC + dumps Oracle de RPA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3192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434840" y="21031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2103120"/>
            <a:ext cx="3246120" cy="128016"/>
          </a:xfrm>
          <a:prstGeom prst="rect">
            <a:avLst/>
          </a:prstGeom>
          <a:solidFill>
            <a:srgbClr val="5C6B73"/>
          </a:solidFill>
          <a:ln w="12700">
            <a:solidFill>
              <a:srgbClr val="5C6B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3484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SILVER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01752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Limpieza y normalización por fuente (Python/Pandas). Modelo relacional con llaves foráneas (SQLite)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80960" y="3200400"/>
            <a:ext cx="502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8183880" y="2103120"/>
            <a:ext cx="3246120" cy="2834640"/>
          </a:xfrm>
          <a:prstGeom prst="roundRect">
            <a:avLst>
              <a:gd name="adj" fmla="val 2581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2103120"/>
            <a:ext cx="3246120" cy="128016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4231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017520"/>
            <a:ext cx="2697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D2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Vistas analíticas listas para consumo: tendencias, rankings, cruces por provincia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85800" y="5257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diseño (Semana 1): antes de escribir código se definió qué vive en cada capa. Cada capa terminó viviendo en su propio artefacto: archivos fuente → pipeline_utpl.db (modelo dimensional) → vistas gold_* consumidas por Power BI.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SEMANAS 2 Y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fuentes, cuatro problemas distintos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18520" cy="45720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288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Contenido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52360" y="182880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 técnico resuelto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1852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7744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3774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PIB, VAB, petróleo, riesgo país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52360" y="23774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limpias en formato largo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000" y="315468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ENEMDU y Censo 2022 (empleo, ocupación)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52360" y="31546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pd.melt() para pasar de columnas a filas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101852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Supercias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39319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Directorio + ranking empresarial (326 MB)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393192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Cruce con directorio para RUC/provincia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709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MINEDUC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47091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 histórico 2009-2024 (313 MB)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52360" y="470916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 con openpyxl streaming (no cabía en memoria)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715000"/>
            <a:ext cx="11018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Espacio sugerido: captura de uno de los scripts de limpieza (bce.py / inec.py / supercias.py / mineduc.py) 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modelo relacional con integridad verificada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dimensiones: </a:t>
            </a:r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dim_geografia, dim_tiempo, dim_empresas, dim_ciiu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tablas de hechos: </a:t>
            </a:r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PIB, VAB, empleo, ocupación censal, ranking empresarial, oferta académica, indicadores diarios, IEE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violaciones de FK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 foreign_key_check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34290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SERIAL→AUTOINCR.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adaptado a SQLite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el DDL original en Postgres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342900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374904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~21% / 9.5%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366760" y="45720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id_geografia nulo (documentado)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66760" y="50292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nombres de provincia/cantón sin calzar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94360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Espacio sugerido: diagrama entidad-relación (modelo_entidad_relacion.png)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dashboard: dos preguntas de negocio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74520"/>
            <a:ext cx="5349240" cy="59436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— ¿Cómo ha evolucionado la economía?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de PIB real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Barras de variación con clasificación de ciclo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KPIs: PIB per cápita y variación interanual (DAX)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del IEE del último año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55080" y="1874520"/>
            <a:ext cx="53492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7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874520"/>
            <a:ext cx="5349240" cy="59436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874520"/>
            <a:ext cx="4892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— ¿Dónde se concentra la actividad?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800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VAB por provincia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ramas de actividad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 desempleo más reciente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53492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Conexión: Power BI ↔ pipeline_utpl.db vía ODBC (driver SQLite + DSN)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1018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AA6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Espacio sugerido: captura de las páginas P1 y P2 del dashboard ]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SEMANA 5-6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nueva fuente entra al pipeline: RPA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compañero automatizó la extracción oficial con un robot (RPA) que entrega dumps de Oracle Data Pump: dos archivos .sql con una sola tabla, TAB_CONSOLIDADO, donde cada fila es un indicador distinto guardado como JSON.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archivos .sql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323 KB + 2.4 GB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30175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indicadores distintos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PIB, empleo, Supercias, MINEDUC...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3017520"/>
            <a:ext cx="3520440" cy="1737360"/>
          </a:xfrm>
          <a:prstGeom prst="roundRect">
            <a:avLst>
              <a:gd name="adj" fmla="val 3158"/>
            </a:avLst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2004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~1.95M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366760" y="38862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filas totales cargadas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42519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277,529 + 1,672,590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reto propio: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JSON viene doblemente serializado (una cadena de texto que contiene otro JSON escapado). No está comprimido — solo necesita json.loads() dos veces para leerse.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obstáculos técnicos, seis soluciones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7452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rechazaba las cargas (ORA-32795 / ORA-00955)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0487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Tablespace inexistente + columna IDENTITY mal configurada en el XE local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78308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7452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de bachilleres: solo contaba mujeres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0" y="240487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código tomaba una sola columna cuando existían mujeres + hombres por separado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918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Empleo perdía el detalle urbano/rural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Mismo patrón de bug: se descartaba todo excepto el total nacional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320040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329184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nominal faltante en 35 de 60 años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82219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pipeline nunca consultaba el indicador PIB_NOMINAL_PER_CAPITA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091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RUC y CIIU vacíos rompiendo llaves únicas/foráneas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2395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excluyeron o convirtieron a NULL, documentando el % exacto afectado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61772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709160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Mojibake visual en la consola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5239512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Confirmado: los datos en SQLite están bien; era solo la codepage de la terminal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INTEGRACIÓN AL MODELO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todo se integra igual: 4 estrategias distintas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45720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74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Estrategia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49440" y="1874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92640" y="1874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dim_empresas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49440" y="24231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219,753 filas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38360" y="2624328"/>
            <a:ext cx="164592" cy="164592"/>
          </a:xfrm>
          <a:prstGeom prst="ellipse">
            <a:avLst/>
          </a:prstGeom>
          <a:solidFill>
            <a:srgbClr val="0BA678"/>
          </a:solidFill>
          <a:ln w="12700">
            <a:solidFill>
              <a:srgbClr val="0BA6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fact_ranking_empresarial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990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Reemplazo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0" y="299008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1,345,488 filas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738360" y="3191256"/>
            <a:ext cx="164592" cy="164592"/>
          </a:xfrm>
          <a:prstGeom prst="ellipse">
            <a:avLst/>
          </a:prstGeom>
          <a:solidFill>
            <a:srgbClr val="0BA678"/>
          </a:solidFill>
          <a:ln w="12700">
            <a:solidFill>
              <a:srgbClr val="0BA6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557016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570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fact_oferta_academica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06240" y="35570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Combinar (append)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49440" y="355701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+16,275 (período 2025-2026)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738360" y="3758184"/>
            <a:ext cx="164592" cy="164592"/>
          </a:xfrm>
          <a:prstGeom prst="ellipse">
            <a:avLst/>
          </a:prstGeom>
          <a:solidFill>
            <a:srgbClr val="1F7AE0"/>
          </a:solidFill>
          <a:ln w="12700">
            <a:solidFill>
              <a:srgbClr val="1F7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1239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fact_macro_anual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06240" y="41239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Actualizar (PIB nominal)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9440" y="412394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60/60 sin nulos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9738360" y="4325112"/>
            <a:ext cx="164592" cy="164592"/>
          </a:xfrm>
          <a:prstGeom prst="ellipse">
            <a:avLst/>
          </a:prstGeom>
          <a:solidFill>
            <a:srgbClr val="1F7AE0"/>
          </a:solidFill>
          <a:ln w="12700">
            <a:solidFill>
              <a:srgbClr val="1F7A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4690872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6908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fact_empleo_poblacion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46908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Tabla nueva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949440" y="46908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1,872 filas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738360" y="4892040"/>
            <a:ext cx="164592" cy="164592"/>
          </a:xfrm>
          <a:prstGeom prst="ellipse">
            <a:avLst/>
          </a:prstGeom>
          <a:solidFill>
            <a:srgbClr val="8B5E22"/>
          </a:solidFill>
          <a:ln w="12700">
            <a:solidFill>
              <a:srgbClr val="8B5E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2578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3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fact_vab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06240" y="5257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Bloqueado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949440" y="525780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anio nulo desde el origen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9738360" y="5458968"/>
            <a:ext cx="164592" cy="16459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00760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Verde = mejora directa sin pérdida  •  Azul = requirió análisis de compatibilidad  •  Café = estructura nueva  •  Rojo = bloqueado (dato de origen)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CIERRE DEL CÓDIGO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ajuste: formalizar la FK de dim_ciiu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dim_empresas.ciiu_n1/ciiu_n6, fact_ranking_empresarial.ciiu_n6 y fact_vab.ciiu conectaban con dim_ciiu por los datos, pero sin llave foránea declarada en el DDL.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70632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706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el desajuste real tras integrar RPA: 0.000% en las 4 columnas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3924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36499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no permite ALTER TABLE ADD FOREIGN KEY → reconstruir las 3 tablas conservando los datos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014216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142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3986784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y corregir 524 violaciones: códigos CIIU vacíos convertidos a NULL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636008"/>
            <a:ext cx="292608" cy="292608"/>
          </a:xfrm>
          <a:prstGeom prst="ellipse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360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608576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Confirmar: 0 violaciones de integridad referencial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5486400"/>
            <a:ext cx="10881360" cy="82296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23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final: </a:t>
            </a:r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5 vistas Gold verificadas de punta a punta después de cada cambio, sin romper ningún cruce existente.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SIGUE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pasos: el dashboard, ahora con datos RPA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— Nueva página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Bachilleres vs. empresas por provincia, usando fact_oferta_academica + dim_empresas ya actualizados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920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03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Filtros globales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92240" y="26060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Año, provincia y sector aplicados a las tres páginas del dashboard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4F6F8"/>
          </a:solidFill>
          <a:ln w="12700">
            <a:solidFill>
              <a:srgbClr val="E1E6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389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D1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Rediseño estético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77240" y="48920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azul marino, panel de filtros desplegable, tarjetas KPI estilo UTPL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4206240"/>
            <a:ext cx="5349240" cy="1965960"/>
          </a:xfrm>
          <a:prstGeom prst="roundRect">
            <a:avLst>
              <a:gd name="adj" fmla="val 2791"/>
            </a:avLst>
          </a:prstGeom>
          <a:solidFill>
            <a:srgbClr val="FBEAEA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3891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 externo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92240" y="4892040"/>
            <a:ext cx="4892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Reportar a RPA el campo anio nulo en VAB_CANTONAL_CIIU (bloquea fact_vab)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83280"/>
            <a:ext cx="12161520" cy="548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4688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Preguntas sobre el pipeline, el modelo de datos, o la integración con RPA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2026-07-21T05:44:23Z</dcterms:created>
  <dcterms:modified xsi:type="dcterms:W3CDTF">2026-07-21T05:44:24Z</dcterms:modified>
</cp:coreProperties>
</file>